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Adhesive capsulitis GWAS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2816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First-pass signal triage from FinnGen summary statistics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331012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</a:rPr>
              <a:t>Bootstrap deck: variant classes, candidate mechanisms, and downstream analysis plan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3822192"/>
            <a:ext cx="50292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Black/white draft theme • For discussion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GWAS signal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Top FinnGen loci suggest common regulatory signals plus rare high-effect and coding candidates.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73352"/>
            <a:ext cx="108356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00000"/>
                </a:solidFill>
              </a:rPr>
              <a:t>Variant class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2331720" y="13533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00000"/>
                </a:solidFill>
              </a:rPr>
              <a:t>Gene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3611880" y="13533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00000"/>
                </a:solidFill>
              </a:rPr>
              <a:t>Annotation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5532120" y="13533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00000"/>
                </a:solidFill>
              </a:rPr>
              <a:t>Effect / p-value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7726680" y="1353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00000"/>
                </a:solidFill>
              </a:rPr>
              <a:t>First readout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594360" y="1709928"/>
            <a:ext cx="108356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64792"/>
            <a:ext cx="16459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Common regulatory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2331720" y="1764792"/>
            <a:ext cx="11887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WNT7B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3611880" y="1764792"/>
            <a:ext cx="18288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intron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5532120" y="1764792"/>
            <a:ext cx="21031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OR≈1.27; p=3.7e-27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7726680" y="1764792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Top locus; WNT signaling candidate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94360" y="2148840"/>
            <a:ext cx="108356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203704"/>
            <a:ext cx="16459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Immune locus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2331720" y="2203704"/>
            <a:ext cx="11887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HLA-DQB1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3611880" y="2203704"/>
            <a:ext cx="18288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upstream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5532120" y="2203704"/>
            <a:ext cx="21031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OR≈1.20; p=9.2e-24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7726680" y="2203704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HLA/immune contribution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594360" y="2587752"/>
            <a:ext cx="108356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642616"/>
            <a:ext cx="16459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Rare/high-effect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2331720" y="2642616"/>
            <a:ext cx="11887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BBS2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3611880" y="2642616"/>
            <a:ext cx="18288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upstream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5532120" y="2642616"/>
            <a:ext cx="21031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OR≈3.98; p=6.9e-21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7726680" y="2642616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Rare regulatory candidate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94360" y="3026664"/>
            <a:ext cx="108356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Coding nonsyn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2331720" y="3081528"/>
            <a:ext cx="11887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MMP2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361188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missense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5532120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OR≈3.94; p=3.0e-20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7726680" y="3081528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Matrix remodeling candidate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594360" y="3465576"/>
            <a:ext cx="108356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Coding nonsyn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233172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MMP14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361188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missense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553212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OR≈1.16; p=6.5e-13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772668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Collagen/ECM remodeling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594360" y="3904488"/>
            <a:ext cx="108356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959352"/>
            <a:ext cx="16459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Noncoding tx</a:t>
            </a:r>
            <a:endParaRPr lang="en-US" sz="1040" dirty="0"/>
          </a:p>
        </p:txBody>
      </p:sp>
      <p:sp>
        <p:nvSpPr>
          <p:cNvPr id="43" name="Text 41"/>
          <p:cNvSpPr/>
          <p:nvPr/>
        </p:nvSpPr>
        <p:spPr>
          <a:xfrm>
            <a:off x="2331720" y="3959352"/>
            <a:ext cx="11887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HMGB3P32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361188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noncoding exon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5532120" y="3959352"/>
            <a:ext cx="21031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OR≈2.85; p=1.1e-12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7726680" y="3959352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Noncoding gene branch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594360" y="4343400"/>
            <a:ext cx="108356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398264"/>
            <a:ext cx="16459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Rare/noncoding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2331720" y="4398264"/>
            <a:ext cx="11887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NDRG4</a:t>
            </a:r>
            <a:endParaRPr lang="en-US" sz="1040" dirty="0"/>
          </a:p>
        </p:txBody>
      </p:sp>
      <p:sp>
        <p:nvSpPr>
          <p:cNvPr id="50" name="Text 48"/>
          <p:cNvSpPr/>
          <p:nvPr/>
        </p:nvSpPr>
        <p:spPr>
          <a:xfrm>
            <a:off x="3611880" y="4398264"/>
            <a:ext cx="18288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noncoding exon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532120" y="4398264"/>
            <a:ext cx="21031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OR≈2.57; p=2.9e-10</a:t>
            </a:r>
            <a:endParaRPr lang="en-US" sz="1040" dirty="0"/>
          </a:p>
        </p:txBody>
      </p:sp>
      <p:sp>
        <p:nvSpPr>
          <p:cNvPr id="52" name="Text 50"/>
          <p:cNvSpPr/>
          <p:nvPr/>
        </p:nvSpPr>
        <p:spPr>
          <a:xfrm>
            <a:off x="7726680" y="4398264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Low-frequency noncoding signal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594360" y="4782312"/>
            <a:ext cx="108356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837176"/>
            <a:ext cx="16459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Rare/pseudogene</a:t>
            </a:r>
            <a:endParaRPr lang="en-US" sz="1040" dirty="0"/>
          </a:p>
        </p:txBody>
      </p:sp>
      <p:sp>
        <p:nvSpPr>
          <p:cNvPr id="55" name="Text 53"/>
          <p:cNvSpPr/>
          <p:nvPr/>
        </p:nvSpPr>
        <p:spPr>
          <a:xfrm>
            <a:off x="2331720" y="4837176"/>
            <a:ext cx="11887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CYP4F23P</a:t>
            </a:r>
            <a:endParaRPr lang="en-US" sz="1040" dirty="0"/>
          </a:p>
        </p:txBody>
      </p:sp>
      <p:sp>
        <p:nvSpPr>
          <p:cNvPr id="56" name="Text 54"/>
          <p:cNvSpPr/>
          <p:nvPr/>
        </p:nvSpPr>
        <p:spPr>
          <a:xfrm>
            <a:off x="3611880" y="4837176"/>
            <a:ext cx="18288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upstream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5532120" y="4837176"/>
            <a:ext cx="210312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OR≈4.64; p=7.9e-9</a:t>
            </a:r>
            <a:endParaRPr lang="en-US" sz="1040" dirty="0"/>
          </a:p>
        </p:txBody>
      </p:sp>
      <p:sp>
        <p:nvSpPr>
          <p:cNvPr id="58" name="Text 56"/>
          <p:cNvSpPr/>
          <p:nvPr/>
        </p:nvSpPr>
        <p:spPr>
          <a:xfrm>
            <a:off x="7726680" y="4837176"/>
            <a:ext cx="384048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</a:rPr>
              <a:t>High-effect rare signal</a:t>
            </a:r>
            <a:endParaRPr lang="en-US" sz="1040" dirty="0"/>
          </a:p>
        </p:txBody>
      </p:sp>
      <p:sp>
        <p:nvSpPr>
          <p:cNvPr id="59" name="Text 57"/>
          <p:cNvSpPr/>
          <p:nvPr/>
        </p:nvSpPr>
        <p:spPr>
          <a:xfrm>
            <a:off x="594360" y="5788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Working interpretation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3017520" y="5760720"/>
            <a:ext cx="85953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Separate coding, rare regulatory, common regulatory, and noncoding transcript mechanisms.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</a:rPr>
              <a:t>Prioritize MMP2/MMP14 as coding ECM candidates, WNT7B as a regulatory pathway signal, and rare/noncoding hits for enhancer-gene mapping.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Input: user-provided FinnGen adhesive capsulitis top association table. Effect column treated as approximate OR/effect estimate for triage.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Variant-to-gene prioritization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Build evidence branches rather than ranking genes only by GWAS p-value.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1. Coding branch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4747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Focus nonsyn variants: MMP2 missense, MMP14 missense.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Add VEP consequence, AlphaMissense / REVEL / CADD, conservation, protein domain context.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Map to tendon/capsule fibrosis, ECM remodeling, collagen degradation biology.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3484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2. Rare regulatory branch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1783080"/>
            <a:ext cx="3566160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High-effect rare candidates: BBS2, HMGB3P32, NDRG4, CYP4F23P.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Check allele count, imputation quality, case/control imbalance, sensitivity.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Map to DHS/ATAC, promoters, enhancers, sQTL/eQTL, and chromatin links.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3. Common regulatory branch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75320" y="1783080"/>
            <a:ext cx="3566160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Top loci: WNT7B, HLA-DQB1, PRRC2A, SIN3A.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Fine-map credible sets and test colocalization with eQTL/sQTL/pQTL.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Use immune, fibroblast, tendon/ligament, endothelial/stromal regulatory context.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0881360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86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Decision rule for first-pass therapeutic target nomination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4439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Variant  →  Functional evidence  →  Causal gene link  →  Disease module  →  Druggability / SymMap evidence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5266944"/>
            <a:ext cx="107442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Evidence score: annotation + fine-mapping posterior + QTL/colocalization + tissue specificity + network proximity.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Keep rare variants as a dedicated evidence stream because standard GWAS/QTL may underpower rare high-effect signals.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Proposed triage model: evidence-branching workflow for coding, rare regulatory, common regulatory, and noncoding transcript signals.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 downstream analysis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Convert summary-stat signals into causal targets and drug / traditional medicine hypotheses.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106070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Step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3017520" y="141732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What to do next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9144000" y="1417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</a:rPr>
              <a:t>Expected output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85800" y="1773936"/>
            <a:ext cx="106070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28800"/>
            <a:ext cx="21945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1. Summary stats QC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3017520" y="1828800"/>
            <a:ext cx="59436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reformat, harmonize, AF/INFO filters, rare-variant checks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144000" y="1828800"/>
            <a:ext cx="2331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Clean locus table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85800" y="2176272"/>
            <a:ext cx="106070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31136"/>
            <a:ext cx="21945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2. Functional annotation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017520" y="2231136"/>
            <a:ext cx="59436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VEP, CADD, AlphaMissense, REVEL, SpliceAI, conservation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144000" y="2231136"/>
            <a:ext cx="2331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Variant impact table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85800" y="2578608"/>
            <a:ext cx="106070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33472"/>
            <a:ext cx="21945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3. Fine-mapping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017520" y="2633472"/>
            <a:ext cx="59436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SuSiE / FINEMAP; credible sets by locus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9144000" y="2633472"/>
            <a:ext cx="2331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Credible variants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85800" y="2980944"/>
            <a:ext cx="106070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035808"/>
            <a:ext cx="21945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4. Gene mapping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3017520" y="3035808"/>
            <a:ext cx="59436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nearest gene + eQTL/sQTL/pQTL colocalization + DHS/ATAC/Hi-C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9144000" y="3035808"/>
            <a:ext cx="2331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Causal gene candidates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85800" y="3383280"/>
            <a:ext cx="106070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438144"/>
            <a:ext cx="21945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5. Causal target score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3017520" y="3438144"/>
            <a:ext cx="59436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coding impact + regulatory evidence + disease tissue relevance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9144000" y="3438144"/>
            <a:ext cx="2331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Ranked targets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85800" y="3785616"/>
            <a:ext cx="10607040" cy="0"/>
          </a:xfrm>
          <a:prstGeom prst="line">
            <a:avLst/>
          </a:prstGeom>
          <a:noFill/>
          <a:ln w="4445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840480"/>
            <a:ext cx="219456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6. Network + SymMap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3017520" y="3840480"/>
            <a:ext cx="594360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ECM/fibrosis/immune/WNT modules; drug and traditional medicine recommendation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9144000" y="3840480"/>
            <a:ext cx="23317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Therapeutic hypotheses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685800" y="4754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Candidate biology to test in animal / wet-lab validation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" y="5157216"/>
            <a:ext cx="64922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ECM remodeling: MMP2, MMP14 and collagen/capsular fibrosis modules.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Developmental/stromal signaling: WNT7B-centered regulatory programs.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Immune contribution: HLA-DQB1 and inflammation/fibrosis cross-talk.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Rare/noncoding branch: validate enhancer/transcript effects before target nomination.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909560" y="4754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Initial deliverables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55280" y="5157216"/>
            <a:ext cx="35661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Annotated GWAS table.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Prioritized target gene list.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Network modules and drug/SymMap hits.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Wet-lab validation shortlist.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Next objective: move from association signals to causal gene and therapeutic module hypotheses for adhesive capsulitis.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Adhesive capsulitis GWAS: first-pass signal triage</dc:title>
  <dc:subject>Adhesive capsulitis GWAS bootstrap slides</dc:subject>
  <dc:creator>OpenAI</dc:creator>
  <cp:lastModifiedBy>OpenAI</cp:lastModifiedBy>
  <cp:revision>1</cp:revision>
  <dcterms:created xsi:type="dcterms:W3CDTF">2026-04-28T22:51:22Z</dcterms:created>
  <dcterms:modified xsi:type="dcterms:W3CDTF">2026-04-28T22:51:22Z</dcterms:modified>
</cp:coreProperties>
</file>